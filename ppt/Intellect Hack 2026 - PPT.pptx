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" charset="1" panose="020B0503030501040103"/>
      <p:regular r:id="rId14"/>
    </p:embeddedFont>
    <p:embeddedFont>
      <p:font typeface="Anton" charset="1" panose="00000500000000000000"/>
      <p:regular r:id="rId15"/>
    </p:embeddedFont>
    <p:embeddedFont>
      <p:font typeface="Space Mono Bold" charset="1" panose="02000809030000020004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6115" y="-3321668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8" id="8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173930" y="5191057"/>
            <a:ext cx="1134304" cy="78586"/>
          </a:xfrm>
          <a:custGeom>
            <a:avLst/>
            <a:gdLst/>
            <a:ahLst/>
            <a:cxnLst/>
            <a:rect r="r" b="b" t="t" l="l"/>
            <a:pathLst>
              <a:path h="78586" w="1134304">
                <a:moveTo>
                  <a:pt x="0" y="0"/>
                </a:moveTo>
                <a:lnTo>
                  <a:pt x="1134304" y="0"/>
                </a:lnTo>
                <a:lnTo>
                  <a:pt x="1134304" y="78586"/>
                </a:lnTo>
                <a:lnTo>
                  <a:pt x="0" y="78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027" t="-1095844" r="-14896" b="-67947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4912184" y="168484"/>
            <a:ext cx="3012073" cy="759671"/>
            <a:chOff x="0" y="0"/>
            <a:chExt cx="4016097" cy="10128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37180" y="0"/>
              <a:ext cx="3341736" cy="1012895"/>
            </a:xfrm>
            <a:custGeom>
              <a:avLst/>
              <a:gdLst/>
              <a:ahLst/>
              <a:cxnLst/>
              <a:rect r="r" b="b" t="t" l="l"/>
              <a:pathLst>
                <a:path h="1012895" w="3341736">
                  <a:moveTo>
                    <a:pt x="0" y="0"/>
                  </a:moveTo>
                  <a:lnTo>
                    <a:pt x="3341736" y="0"/>
                  </a:lnTo>
                  <a:lnTo>
                    <a:pt x="3341736" y="1012895"/>
                  </a:lnTo>
                  <a:lnTo>
                    <a:pt x="0" y="1012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1849" t="0" r="-4184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315245"/>
              <a:ext cx="4016097" cy="363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92"/>
                </a:lnSpc>
              </a:pPr>
              <a:r>
                <a:rPr lang="en-US" sz="14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TRACK 5  ·  OPEN INNOVATION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080330" y="724172"/>
            <a:ext cx="1019543" cy="69776"/>
          </a:xfrm>
          <a:custGeom>
            <a:avLst/>
            <a:gdLst/>
            <a:ahLst/>
            <a:cxnLst/>
            <a:rect r="r" b="b" t="t" l="l"/>
            <a:pathLst>
              <a:path h="69776" w="1019543">
                <a:moveTo>
                  <a:pt x="0" y="0"/>
                </a:moveTo>
                <a:lnTo>
                  <a:pt x="1019543" y="0"/>
                </a:lnTo>
                <a:lnTo>
                  <a:pt x="1019543" y="69776"/>
                </a:lnTo>
                <a:lnTo>
                  <a:pt x="0" y="69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027" t="-1109958" r="-14896" b="-688457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657600" y="6246955"/>
            <a:ext cx="10972800" cy="97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gradFill>
                  <a:gsLst>
                    <a:gs pos="0">
                      <a:srgbClr val="FF6767">
                        <a:alpha val="100000"/>
                      </a:srgbClr>
                    </a:gs>
                    <a:gs pos="100000">
                      <a:srgbClr val="FFD1D1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TEAM PHOENIX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20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Abishekh Pradhosh   ·   Suhasha   ·   Yeswanth   ·   Vignesh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74332" y="3751597"/>
            <a:ext cx="4339335" cy="107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8"/>
              </a:lnSpc>
              <a:spcBef>
                <a:spcPct val="0"/>
              </a:spcBef>
            </a:pPr>
            <a:r>
              <a:rPr lang="en-US" sz="6227">
                <a:gradFill>
                  <a:gsLst>
                    <a:gs pos="0">
                      <a:srgbClr val="731919">
                        <a:alpha val="100000"/>
                      </a:srgbClr>
                    </a:gs>
                    <a:gs pos="100000">
                      <a:srgbClr val="E52B2B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DATAPILOT AI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901218" y="1803582"/>
            <a:ext cx="12485564" cy="1404907"/>
            <a:chOff x="0" y="0"/>
            <a:chExt cx="16647419" cy="1873209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71450"/>
              <a:ext cx="7962322" cy="2044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69"/>
                </a:lnSpc>
              </a:pPr>
              <a:r>
                <a:rPr lang="en-US" sz="9264" spc="1195">
                  <a:gradFill>
                    <a:gsLst>
                      <a:gs pos="0">
                        <a:srgbClr val="AE4444">
                          <a:alpha val="100000"/>
                        </a:srgbClr>
                      </a:gs>
                      <a:gs pos="100000">
                        <a:srgbClr val="FFA3A3">
                          <a:alpha val="100000"/>
                        </a:srgbClr>
                      </a:gs>
                    </a:gsLst>
                    <a:lin ang="5400000"/>
                  </a:gradFill>
                  <a:latin typeface="Anton"/>
                  <a:ea typeface="Anton"/>
                  <a:cs typeface="Anton"/>
                  <a:sym typeface="Anton"/>
                </a:rPr>
                <a:t>INTELLECT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8291640" y="-171450"/>
              <a:ext cx="8355779" cy="2044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69"/>
                </a:lnSpc>
              </a:pPr>
              <a:r>
                <a:rPr lang="en-US" sz="9264" spc="1195">
                  <a:gradFill>
                    <a:gsLst>
                      <a:gs pos="0">
                        <a:srgbClr val="FEFFFF">
                          <a:alpha val="100000"/>
                        </a:srgbClr>
                      </a:gs>
                      <a:gs pos="100000">
                        <a:srgbClr val="C5C5C5">
                          <a:alpha val="100000"/>
                        </a:srgbClr>
                      </a:gs>
                    </a:gsLst>
                    <a:lin ang="5400000"/>
                  </a:gradFill>
                  <a:latin typeface="Anton"/>
                  <a:ea typeface="Anton"/>
                  <a:cs typeface="Anton"/>
                  <a:sym typeface="Anton"/>
                </a:rPr>
                <a:t>HACK </a:t>
              </a:r>
              <a:r>
                <a:rPr lang="en-US" sz="9264" spc="1195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Anton"/>
                  <a:ea typeface="Anton"/>
                  <a:cs typeface="Anton"/>
                  <a:sym typeface="Anton"/>
                </a:rPr>
                <a:t>2026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26235" y="-432950"/>
            <a:ext cx="5172541" cy="2153040"/>
            <a:chOff x="0" y="0"/>
            <a:chExt cx="6896722" cy="287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84144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96978" t="0" r="-35815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48507" t="0" r="-193689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662905" y="9688511"/>
            <a:ext cx="8699201" cy="34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6"/>
              </a:lnSpc>
            </a:pPr>
            <a:r>
              <a:rPr lang="en-US" b="true" sz="2047" spc="59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INNOVATE.</a:t>
            </a:r>
            <a:r>
              <a:rPr lang="en-US" b="true" sz="2047" spc="599">
                <a:gradFill>
                  <a:gsLst>
                    <a:gs pos="0">
                      <a:srgbClr val="731919">
                        <a:alpha val="100000"/>
                      </a:srgbClr>
                    </a:gs>
                    <a:gs pos="100000">
                      <a:srgbClr val="E52B2B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BULID.</a:t>
            </a:r>
            <a:r>
              <a:rPr lang="en-US" b="true" sz="2047" spc="599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DEMONSTRATE.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5175504"/>
            <a:ext cx="1645920" cy="4572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54132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spc="260">
                <a:solidFill>
                  <a:srgbClr val="FFD1D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ASK YOUR DATABASE ANYTHING, IN PLAIN ENGLISH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19" y="7534656"/>
            <a:ext cx="2487168" cy="457200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3471" y="75346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Streaming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0367" y="7534656"/>
            <a:ext cx="2487168" cy="457200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19" y="75346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Guarded SQL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0415" y="7534656"/>
            <a:ext cx="2487168" cy="457200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7" y="75346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Charts + diagrams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70463" y="7534656"/>
            <a:ext cx="2487168" cy="457200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43615" y="75346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SQLite / PostgreSQL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240511" y="7534656"/>
            <a:ext cx="2487168" cy="457200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313663" y="7534656"/>
            <a:ext cx="234086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Runs with no API key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57729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5852" y="1614650"/>
            <a:ext cx="4927947" cy="83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2"/>
              </a:lnSpc>
            </a:pPr>
            <a:r>
              <a:rPr lang="en-US" sz="490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70048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TRACK 5  //  OPEN INNOVATION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090672"/>
            <a:ext cx="9921240" cy="4114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383280"/>
            <a:ext cx="15453359" cy="1188720"/>
          </a:xfrm>
          <a:prstGeom prst="roundRect">
            <a:avLst>
              <a:gd name="adj" fmla="val 6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383280"/>
            <a:ext cx="54864" cy="118872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3584448"/>
            <a:ext cx="21031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TODAY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99A9A"/>
                </a:solidFill>
                <a:latin typeface="Canva Sans"/>
                <a:ea typeface="Canva Sans"/>
                <a:cs typeface="Canva Sans"/>
                <a:sym typeface="Canva Sans"/>
              </a:rPr>
              <a:t>how a data question
actually gets answered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3584448"/>
            <a:ext cx="2409443" cy="786384"/>
          </a:xfrm>
          <a:prstGeom prst="roundRect">
            <a:avLst>
              <a:gd name="adj" fmla="val 10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3088" y="3584448"/>
            <a:ext cx="21899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 business question
comes up on Monday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6515099" y="3886200"/>
            <a:ext cx="201168" cy="181051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98563" y="3584448"/>
            <a:ext cx="2409443" cy="786384"/>
          </a:xfrm>
          <a:prstGeom prst="roundRect">
            <a:avLst>
              <a:gd name="adj" fmla="val 10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8291" y="3584448"/>
            <a:ext cx="21899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It becomes a ticket
for the data team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9290303" y="3886200"/>
            <a:ext cx="201168" cy="181051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73767" y="3584448"/>
            <a:ext cx="2409443" cy="786384"/>
          </a:xfrm>
          <a:prstGeom prst="roundRect">
            <a:avLst>
              <a:gd name="adj" fmla="val 10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5" y="3584448"/>
            <a:ext cx="21899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An analyst hand-writes
the SQL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12065507" y="3886200"/>
            <a:ext cx="201168" cy="181051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348971" y="3584448"/>
            <a:ext cx="2409443" cy="786384"/>
          </a:xfrm>
          <a:prstGeom prst="roundRect">
            <a:avLst>
              <a:gd name="adj" fmla="val 10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58699" y="3584448"/>
            <a:ext cx="21899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 CSV lands in
someone's inbox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996159" y="3584448"/>
            <a:ext cx="1874519" cy="786384"/>
          </a:xfrm>
          <a:prstGeom prst="roundRect">
            <a:avLst>
              <a:gd name="adj" fmla="val 14000"/>
            </a:avLst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996159" y="3639312"/>
            <a:ext cx="187451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 TO 3
DAYS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17320" y="4773168"/>
            <a:ext cx="3630168" cy="26517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17320" y="4773168"/>
            <a:ext cx="3630168" cy="5486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655064" y="5047488"/>
            <a:ext cx="713232" cy="71323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rapezoid 38"/>
          <p:cNvSpPr/>
          <p:nvPr/>
        </p:nvSpPr>
        <p:spPr>
          <a:xfrm rot="10800000">
            <a:off x="1817110" y="5236066"/>
            <a:ext cx="389139" cy="194569"/>
          </a:xfrm>
          <a:prstGeom prst="trapezoid">
            <a:avLst>
              <a:gd name="adj" fmla="val 34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2011680" y="5430636"/>
            <a:ext cx="0" cy="97285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1980725" y="5536765"/>
            <a:ext cx="61908" cy="61908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1103" y="5084064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55064" y="5888736"/>
            <a:ext cx="31546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THE SQL BOTTLENECK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55064" y="6620256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Every question is routed through the handful of people who can write a join. They become a queue.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58383" y="4773168"/>
            <a:ext cx="3630168" cy="26517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58383" y="4773168"/>
            <a:ext cx="3630168" cy="5486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596127" y="5047488"/>
            <a:ext cx="713232" cy="71323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 rot="10800000">
            <a:off x="5802394" y="5227222"/>
            <a:ext cx="300698" cy="159193"/>
          </a:xfrm>
          <a:prstGeom prst="triangl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5802394" y="5421792"/>
            <a:ext cx="300698" cy="159193"/>
          </a:xfrm>
          <a:prstGeom prst="triangl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5775862" y="5218378"/>
            <a:ext cx="353763" cy="0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775862" y="5589829"/>
            <a:ext cx="353763" cy="0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202167" y="5084064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96127" y="5888736"/>
            <a:ext cx="31546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ANSWERS ARRIVE STALE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96127" y="6620256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 two-minute question takes two days. The number is right and the moment for it has passed.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99448" y="4773168"/>
            <a:ext cx="3630168" cy="26517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99448" y="4773168"/>
            <a:ext cx="3630168" cy="5486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537192" y="5047488"/>
            <a:ext cx="713232" cy="71323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Isosceles Triangle 57"/>
          <p:cNvSpPr/>
          <p:nvPr/>
        </p:nvSpPr>
        <p:spPr>
          <a:xfrm>
            <a:off x="9690394" y="5227222"/>
            <a:ext cx="406827" cy="353763"/>
          </a:xfrm>
          <a:prstGeom prst="triangl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9893807" y="5359883"/>
            <a:ext cx="0" cy="97285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867275" y="5483700"/>
            <a:ext cx="53064" cy="53064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143232" y="5084064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37192" y="5888736"/>
            <a:ext cx="31546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RAW LLM IS A LIABILITY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37192" y="6620256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Unchecked generated SQL can write, drop a table, leak personal data or pull a million rows.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3240512" y="4773168"/>
            <a:ext cx="3630168" cy="265176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3240512" y="4773168"/>
            <a:ext cx="3630168" cy="5486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3478256" y="5047488"/>
            <a:ext cx="713232" cy="71323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640302" y="5231644"/>
            <a:ext cx="53064" cy="53064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13737587" y="5253754"/>
            <a:ext cx="291854" cy="0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3640302" y="5328929"/>
            <a:ext cx="53064" cy="53064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3737587" y="5351039"/>
            <a:ext cx="221102" cy="0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13640302" y="5426214"/>
            <a:ext cx="53064" cy="53064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3737587" y="5448324"/>
            <a:ext cx="150349" cy="0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3640302" y="5523499"/>
            <a:ext cx="53064" cy="53064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13737587" y="5545609"/>
            <a:ext cx="79596" cy="0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6084296" y="5084064"/>
            <a:ext cx="5669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478256" y="5888736"/>
            <a:ext cx="315467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QUERY IS NOT AN ANSWER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478256" y="6620256"/>
            <a:ext cx="3154679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Text-to-SQL tools hand back rows. Nobody reads 400 rows; people need a picture and a sentence.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417320" y="7644383"/>
            <a:ext cx="15453359" cy="713232"/>
          </a:xfrm>
          <a:prstGeom prst="roundRect">
            <a:avLst>
              <a:gd name="adj" fmla="val 1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17320" y="7644383"/>
            <a:ext cx="54864" cy="713232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46504" y="7644383"/>
            <a:ext cx="1479499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OUR PROBLEM STATEMENT      </a:t>
            </a:r>
            <a:r>
              <a:rPr sz="1700" b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Let anyone ask a database in plain English, and make it structurally impossible for that to be unsafe or unverifiable.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27298" y="1836912"/>
            <a:ext cx="4325784" cy="158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28"/>
              </a:lnSpc>
            </a:pPr>
            <a:r>
              <a:rPr lang="en-US" sz="459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PROPOSED SOLUTION</a:t>
            </a:r>
          </a:p>
          <a:p>
            <a:pPr algn="ctr">
              <a:lnSpc>
                <a:spcPts val="642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2" id="12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26235" y="-443140"/>
            <a:ext cx="5172541" cy="2153040"/>
            <a:chOff x="0" y="0"/>
            <a:chExt cx="6896722" cy="287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id="18" name="TextBox 17"/>
          <p:cNvSpPr txBox="1"/>
          <p:nvPr/>
        </p:nvSpPr>
        <p:spPr>
          <a:xfrm>
            <a:off x="6949440" y="2670048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DATAPILOT AI  //  WHAT WE BUILT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090672"/>
            <a:ext cx="9921240" cy="4114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410712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83521" y="3576913"/>
            <a:ext cx="399117" cy="399117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665158" y="3658550"/>
            <a:ext cx="235843" cy="23584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50008" y="3383280"/>
            <a:ext cx="6108192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RUNS WITH ZERO API KEYS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 built-in offline engine writes real SQL and draws real charts, so the demo cannot die from an expired key.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4407408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gular Pentagon 24"/>
          <p:cNvSpPr/>
          <p:nvPr/>
        </p:nvSpPr>
        <p:spPr>
          <a:xfrm rot="10800000">
            <a:off x="1601663" y="4573609"/>
            <a:ext cx="362833" cy="399117"/>
          </a:xfrm>
          <a:prstGeom prst="pentagon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701442" y="4764097"/>
            <a:ext cx="58960" cy="63496"/>
          </a:xfrm>
          <a:prstGeom prst="line">
            <a:avLst/>
          </a:prstGeom>
          <a:ln w="25908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760402" y="4700601"/>
            <a:ext cx="113386" cy="126992"/>
          </a:xfrm>
          <a:prstGeom prst="line">
            <a:avLst/>
          </a:prstGeom>
          <a:ln w="25908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350008" y="4379976"/>
            <a:ext cx="6108192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FIVE-LAYER SQL FIREWALL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AST parse, quote-masked keyword scan, forced LIMIT, a read-only connection, then a timeout.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5404104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01663" y="5778934"/>
            <a:ext cx="99779" cy="154204"/>
          </a:xfrm>
          <a:prstGeom prst="rect">
            <a:avLst/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728654" y="5670084"/>
            <a:ext cx="99779" cy="263054"/>
          </a:xfrm>
          <a:prstGeom prst="rect">
            <a:avLst/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55646" y="5570305"/>
            <a:ext cx="99779" cy="362833"/>
          </a:xfrm>
          <a:prstGeom prst="rect">
            <a:avLst/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574450" y="5951280"/>
            <a:ext cx="417259" cy="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350008" y="5376672"/>
            <a:ext cx="6108192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CHARTS PICKED BY CODE, NOT THE MODEL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Column profiling chooses the chart type, so the same question always renders the same, and never renders badly.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20" y="6400800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Magnetic Disk 35"/>
          <p:cNvSpPr/>
          <p:nvPr/>
        </p:nvSpPr>
        <p:spPr>
          <a:xfrm>
            <a:off x="1601663" y="6585143"/>
            <a:ext cx="362833" cy="362833"/>
          </a:xfrm>
          <a:prstGeom prst="flowChartMagneticDisk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50008" y="6373368"/>
            <a:ext cx="6108192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RESULT ROWS NEVER LEAVE THE SERVER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Tools pass a result_id, so a 500-row answer costs the same context as a 5-row one and every row is charted.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7397495"/>
            <a:ext cx="731520" cy="73152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Arc 38"/>
          <p:cNvSpPr/>
          <p:nvPr/>
        </p:nvSpPr>
        <p:spPr>
          <a:xfrm>
            <a:off x="1601663" y="7581839"/>
            <a:ext cx="362833" cy="362833"/>
          </a:xfrm>
          <a:prstGeom prst="arc">
            <a:avLst>
              <a:gd name="adj1" fmla="val 16200000"/>
              <a:gd name="adj2" fmla="val 10800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1551773" y="7708830"/>
            <a:ext cx="99779" cy="90708"/>
          </a:xfrm>
          <a:prstGeom prst="triangl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50008" y="7370063"/>
            <a:ext cx="6108192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 AGENT THAT REPAIRS ITSELF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Tool errors come back as structured messages, and a verify_response step audits what was really delivered.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42248" y="3328416"/>
            <a:ext cx="8193023" cy="5010911"/>
          </a:xfrm>
          <a:prstGeom prst="roundRect">
            <a:avLst>
              <a:gd name="adj" fmla="val 5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42248" y="3328416"/>
            <a:ext cx="54864" cy="5010911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3529584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SOLUTION AT A GLANCE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9006840" y="3950208"/>
          <a:ext cx="7863840" cy="418794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0240"/>
                <a:gridCol w="5943600"/>
              </a:tblGrid>
              <a:tr h="59827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spc="160">
                          <a:solidFill>
                            <a:srgbClr val="FFFFFF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ASPECT</a:t>
                      </a:r>
                    </a:p>
                  </a:txBody>
                  <a:tcPr marL="182880" marR="146304" marT="54864" marB="54864" anchor="ctr">
                    <a:solidFill>
                      <a:srgbClr val="7A12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spc="160">
                          <a:solidFill>
                            <a:srgbClr val="FFFFFF"/>
                          </a:solidFill>
                          <a:latin typeface="Space Mono Bold"/>
                          <a:ea typeface="Space Mono Bold"/>
                          <a:cs typeface="Space Mono Bold"/>
                          <a:sym typeface="Space Mono Bold"/>
                        </a:rPr>
                        <a:t>DATAPILOT</a:t>
                      </a:r>
                    </a:p>
                  </a:txBody>
                  <a:tcPr marL="182880" marR="146304" marT="54864" marB="54864" anchor="ctr">
                    <a:solidFill>
                      <a:srgbClr val="7A1218"/>
                    </a:solidFill>
                  </a:tcPr>
                </a:tc>
              </a:tr>
              <a:tr h="59827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FFFFFF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Input</a:t>
                      </a:r>
                    </a:p>
                  </a:txBody>
                  <a:tcPr marL="182880" marR="146304" marT="54864" marB="54864" anchor="ctr">
                    <a:solidFill>
                      <a:srgbClr val="5E0D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FFD1D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One plain-English question, typed or spoken</a:t>
                      </a:r>
                    </a:p>
                  </a:txBody>
                  <a:tcPr marL="182880" marR="146304" marT="54864" marB="54864" anchor="ctr">
                    <a:solidFill>
                      <a:srgbClr val="5E0D12"/>
                    </a:solidFill>
                  </a:tcPr>
                </a:tc>
              </a:tr>
              <a:tr h="59827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FFFFFF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Engine</a:t>
                      </a:r>
                    </a:p>
                  </a:txBody>
                  <a:tcPr marL="182880" marR="146304" marT="54864" marB="54864" anchor="ctr">
                    <a:solidFill>
                      <a:srgbClr val="4E09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FFD1D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6-tool agent loop, bounded to 8 steps, self-repairing</a:t>
                      </a:r>
                    </a:p>
                  </a:txBody>
                  <a:tcPr marL="182880" marR="146304" marT="54864" marB="54864" anchor="ctr">
                    <a:solidFill>
                      <a:srgbClr val="4E090D"/>
                    </a:solidFill>
                  </a:tcPr>
                </a:tc>
              </a:tr>
              <a:tr h="59827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FFFFFF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Output</a:t>
                      </a:r>
                    </a:p>
                  </a:txBody>
                  <a:tcPr marL="182880" marR="146304" marT="54864" marB="54864" anchor="ctr">
                    <a:solidFill>
                      <a:srgbClr val="5E0D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FFD1D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SQL, table, chart, diagram and a written explanation</a:t>
                      </a:r>
                    </a:p>
                  </a:txBody>
                  <a:tcPr marL="182880" marR="146304" marT="54864" marB="54864" anchor="ctr">
                    <a:solidFill>
                      <a:srgbClr val="5E0D12"/>
                    </a:solidFill>
                  </a:tcPr>
                </a:tc>
              </a:tr>
              <a:tr h="59827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FFFFFF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Safety</a:t>
                      </a:r>
                    </a:p>
                  </a:txBody>
                  <a:tcPr marL="182880" marR="146304" marT="54864" marB="54864" anchor="ctr">
                    <a:solidFill>
                      <a:srgbClr val="4E09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FFD1D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Read-only, 5 guard layers, PII masked at source</a:t>
                      </a:r>
                    </a:p>
                  </a:txBody>
                  <a:tcPr marL="182880" marR="146304" marT="54864" marB="54864" anchor="ctr">
                    <a:solidFill>
                      <a:srgbClr val="4E090D"/>
                    </a:solidFill>
                  </a:tcPr>
                </a:tc>
              </a:tr>
              <a:tr h="59827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FFFFFF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Data</a:t>
                      </a:r>
                    </a:p>
                  </a:txBody>
                  <a:tcPr marL="182880" marR="146304" marT="54864" marB="54864" anchor="ctr">
                    <a:solidFill>
                      <a:srgbClr val="5E0D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FFD1D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SQLite and PostgreSQL, switchable per conversation</a:t>
                      </a:r>
                    </a:p>
                  </a:txBody>
                  <a:tcPr marL="182880" marR="146304" marT="54864" marB="54864" anchor="ctr">
                    <a:solidFill>
                      <a:srgbClr val="5E0D12"/>
                    </a:solidFill>
                  </a:tcPr>
                </a:tc>
              </a:tr>
              <a:tr h="59827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FFFFFF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Setup</a:t>
                      </a:r>
                    </a:p>
                  </a:txBody>
                  <a:tcPr marL="182880" marR="146304" marT="54864" marB="54864" anchor="ctr">
                    <a:solidFill>
                      <a:srgbClr val="4E090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FFD1D1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One click, and no API key is required</a:t>
                      </a:r>
                    </a:p>
                  </a:txBody>
                  <a:tcPr marL="182880" marR="146304" marT="54864" marB="54864" anchor="ctr">
                    <a:solidFill>
                      <a:srgbClr val="4E09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57729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77857" y="1921277"/>
            <a:ext cx="4159389" cy="142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0"/>
              </a:lnSpc>
            </a:pPr>
            <a:r>
              <a:rPr lang="en-US" sz="412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TECHNICAL APPROACH</a:t>
            </a:r>
          </a:p>
          <a:p>
            <a:pPr algn="ctr">
              <a:lnSpc>
                <a:spcPts val="5770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949440" y="2670048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ONE QUESTION IN  //  FIVE ARTIFACTS 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090672"/>
            <a:ext cx="9921240" cy="4114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383280"/>
            <a:ext cx="2346960" cy="1481328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383280"/>
            <a:ext cx="2346960" cy="50292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581912" y="354787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ular Callout 22"/>
          <p:cNvSpPr/>
          <p:nvPr/>
        </p:nvSpPr>
        <p:spPr>
          <a:xfrm>
            <a:off x="1706563" y="3679326"/>
            <a:ext cx="299337" cy="238109"/>
          </a:xfrm>
          <a:prstGeom prst="wedgeRoundRectCallout">
            <a:avLst>
              <a:gd name="adj1" fmla="val -30000"/>
              <a:gd name="adj2" fmla="val 75000"/>
              <a:gd name="adj3" fmla="val 17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5912" y="3602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114800"/>
            <a:ext cx="20177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ASK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Plain English,
typed or spoken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3782567" y="4005072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38599" y="3383280"/>
            <a:ext cx="2346960" cy="1481328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38599" y="3383280"/>
            <a:ext cx="2346960" cy="50292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03191" y="354787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Lightning Bolt 29"/>
          <p:cNvSpPr/>
          <p:nvPr/>
        </p:nvSpPr>
        <p:spPr>
          <a:xfrm>
            <a:off x="4389071" y="3665719"/>
            <a:ext cx="176881" cy="312944"/>
          </a:xfrm>
          <a:prstGeom prst="lightningBolt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7191" y="3602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3191" y="4114800"/>
            <a:ext cx="20177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FASTAPI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/api/chat opens
an SSE stream</a:t>
            </a:r>
          </a:p>
        </p:txBody>
      </p:sp>
      <p:sp>
        <p:nvSpPr>
          <p:cNvPr id="33" name="Isosceles Triangle 32"/>
          <p:cNvSpPr/>
          <p:nvPr/>
        </p:nvSpPr>
        <p:spPr>
          <a:xfrm rot="5400000">
            <a:off x="6403847" y="4005072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59879" y="3383280"/>
            <a:ext cx="2346960" cy="1481328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59879" y="3383280"/>
            <a:ext cx="2346960" cy="50292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24471" y="354787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Hexagon 36"/>
          <p:cNvSpPr/>
          <p:nvPr/>
        </p:nvSpPr>
        <p:spPr>
          <a:xfrm>
            <a:off x="6942319" y="3692932"/>
            <a:ext cx="312944" cy="258519"/>
          </a:xfrm>
          <a:prstGeom prst="hexagon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Hexagon 37"/>
          <p:cNvSpPr/>
          <p:nvPr/>
        </p:nvSpPr>
        <p:spPr>
          <a:xfrm>
            <a:off x="7037563" y="3771168"/>
            <a:ext cx="122456" cy="102047"/>
          </a:xfrm>
          <a:prstGeom prst="hexagon">
            <a:avLst/>
          </a:prstGeom>
          <a:noFill/>
          <a:ln w="24384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1" y="3602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24471" y="4114800"/>
            <a:ext cx="20177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AGENT LOOP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8 steps max, errors
fed back to self-repair</a:t>
            </a:r>
          </a:p>
        </p:txBody>
      </p:sp>
      <p:sp>
        <p:nvSpPr>
          <p:cNvPr id="41" name="Isosceles Triangle 40"/>
          <p:cNvSpPr/>
          <p:nvPr/>
        </p:nvSpPr>
        <p:spPr>
          <a:xfrm rot="5400000">
            <a:off x="9025127" y="4005072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81159" y="3383280"/>
            <a:ext cx="2346960" cy="1481328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1159" y="3383280"/>
            <a:ext cx="2346960" cy="50292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45751" y="354787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84009" y="3686129"/>
            <a:ext cx="122456" cy="122456"/>
          </a:xfrm>
          <a:prstGeom prst="roundRect">
            <a:avLst>
              <a:gd name="adj" fmla="val 22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733678" y="3686129"/>
            <a:ext cx="122456" cy="122456"/>
          </a:xfrm>
          <a:prstGeom prst="roundRect">
            <a:avLst>
              <a:gd name="adj" fmla="val 22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584009" y="3835798"/>
            <a:ext cx="122456" cy="122456"/>
          </a:xfrm>
          <a:prstGeom prst="roundRect">
            <a:avLst>
              <a:gd name="adj" fmla="val 22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733678" y="3835798"/>
            <a:ext cx="122456" cy="122456"/>
          </a:xfrm>
          <a:prstGeom prst="roundRect">
            <a:avLst>
              <a:gd name="adj" fmla="val 22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69751" y="3602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5751" y="4114800"/>
            <a:ext cx="20177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TOOL REGISTRY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6 Pydantic-validated
tools dispatched</a:t>
            </a:r>
          </a:p>
        </p:txBody>
      </p:sp>
      <p:sp>
        <p:nvSpPr>
          <p:cNvPr id="51" name="Isosceles Triangle 50"/>
          <p:cNvSpPr/>
          <p:nvPr/>
        </p:nvSpPr>
        <p:spPr>
          <a:xfrm rot="5400000">
            <a:off x="11646407" y="4005072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1902440" y="3383280"/>
            <a:ext cx="2346960" cy="1481328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902440" y="3383280"/>
            <a:ext cx="2346960" cy="50292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2067031" y="354787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gular Pentagon 54"/>
          <p:cNvSpPr/>
          <p:nvPr/>
        </p:nvSpPr>
        <p:spPr>
          <a:xfrm rot="10800000">
            <a:off x="12205289" y="3672523"/>
            <a:ext cx="272125" cy="299337"/>
          </a:xfrm>
          <a:prstGeom prst="pentagon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2280123" y="3815388"/>
            <a:ext cx="44221" cy="47622"/>
          </a:xfrm>
          <a:prstGeom prst="line">
            <a:avLst/>
          </a:prstGeom>
          <a:ln w="25908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12324344" y="3767766"/>
            <a:ext cx="85039" cy="95244"/>
          </a:xfrm>
          <a:prstGeom prst="line">
            <a:avLst/>
          </a:prstGeom>
          <a:ln w="25908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3591031" y="3602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067031" y="4114800"/>
            <a:ext cx="20177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SQL GUARD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5 layers: parse,
mask, limit, lock, time</a:t>
            </a:r>
          </a:p>
        </p:txBody>
      </p:sp>
      <p:sp>
        <p:nvSpPr>
          <p:cNvPr id="60" name="Isosceles Triangle 59"/>
          <p:cNvSpPr/>
          <p:nvPr/>
        </p:nvSpPr>
        <p:spPr>
          <a:xfrm rot="5400000">
            <a:off x="14267687" y="4005072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4523720" y="3383280"/>
            <a:ext cx="2346960" cy="1481328"/>
          </a:xfrm>
          <a:prstGeom prst="roundRect">
            <a:avLst>
              <a:gd name="adj" fmla="val 9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523720" y="3383280"/>
            <a:ext cx="2346960" cy="50292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4688312" y="3547872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Magnetic Disk 63"/>
          <p:cNvSpPr/>
          <p:nvPr/>
        </p:nvSpPr>
        <p:spPr>
          <a:xfrm>
            <a:off x="14826569" y="3686129"/>
            <a:ext cx="272125" cy="272125"/>
          </a:xfrm>
          <a:prstGeom prst="flowChartMagneticDisk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212312" y="360273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06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688312" y="4114800"/>
            <a:ext cx="201777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DATABASE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Read-only SQLite
or PostgreSQL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229600" y="4864608"/>
            <a:ext cx="0" cy="182880"/>
          </a:xfrm>
          <a:prstGeom prst="line">
            <a:avLst/>
          </a:prstGeom>
          <a:ln w="28575">
            <a:solidFill>
              <a:srgbClr val="FF67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4480560" y="5047488"/>
            <a:ext cx="8595360" cy="841248"/>
          </a:xfrm>
          <a:prstGeom prst="roundRect">
            <a:avLst>
              <a:gd name="adj" fmla="val 14000"/>
            </a:avLst>
          </a:prstGeom>
          <a:solidFill>
            <a:srgbClr val="360407"/>
          </a:solidFill>
          <a:ln w="1270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798771" y="5394959"/>
            <a:ext cx="204825" cy="146304"/>
          </a:xfrm>
          <a:prstGeom prst="roundRect">
            <a:avLst>
              <a:gd name="adj" fmla="val 22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4849977" y="5314492"/>
            <a:ext cx="0" cy="80467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952390" y="5314492"/>
            <a:ext cx="0" cy="80467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901184" y="5541264"/>
            <a:ext cx="0" cy="80467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193792" y="5157216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LLM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automatic failover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05472" y="5257800"/>
            <a:ext cx="932688" cy="420624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78624" y="5257800"/>
            <a:ext cx="7863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Gemini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38160" y="5340096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767"/>
                </a:solidFill>
                <a:latin typeface="Canva Sans"/>
                <a:ea typeface="Canva Sans"/>
                <a:cs typeface="Canva Sans"/>
                <a:sym typeface="Canva Sans"/>
              </a:rPr>
              <a:t>›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84464" y="5257800"/>
            <a:ext cx="932688" cy="420624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57616" y="5257800"/>
            <a:ext cx="7863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OpenAI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17152" y="5340096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767"/>
                </a:solidFill>
                <a:latin typeface="Canva Sans"/>
                <a:ea typeface="Canva Sans"/>
                <a:cs typeface="Canva Sans"/>
                <a:sym typeface="Canva Sans"/>
              </a:rPr>
              <a:t>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363456" y="5257800"/>
            <a:ext cx="1042415" cy="420624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36608" y="5257800"/>
            <a:ext cx="89611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Anthropic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05872" y="5340096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767"/>
                </a:solidFill>
                <a:latin typeface="Canva Sans"/>
                <a:ea typeface="Canva Sans"/>
                <a:cs typeface="Canva Sans"/>
                <a:sym typeface="Canva Sans"/>
              </a:rPr>
              <a:t>›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552176" y="5257800"/>
            <a:ext cx="932688" cy="420624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25328" y="5257800"/>
            <a:ext cx="7863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Bedrock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484864" y="5340096"/>
            <a:ext cx="146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767"/>
                </a:solidFill>
                <a:latin typeface="Canva Sans"/>
                <a:ea typeface="Canva Sans"/>
                <a:cs typeface="Canva Sans"/>
                <a:sym typeface="Canva Sans"/>
              </a:rPr>
              <a:t>›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1631168" y="5257800"/>
            <a:ext cx="1389888" cy="420624"/>
          </a:xfrm>
          <a:prstGeom prst="roundRect">
            <a:avLst>
              <a:gd name="adj" fmla="val 34000"/>
            </a:avLst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704320" y="5257800"/>
            <a:ext cx="12435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Offline engine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417320" y="6035040"/>
            <a:ext cx="3657599" cy="1335024"/>
          </a:xfrm>
          <a:prstGeom prst="roundRect">
            <a:avLst>
              <a:gd name="adj" fmla="val 9000"/>
            </a:avLst>
          </a:prstGeom>
          <a:solidFill>
            <a:srgbClr val="360407"/>
          </a:soli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600200" y="6217920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724851" y="6362980"/>
            <a:ext cx="299337" cy="197290"/>
          </a:xfrm>
          <a:prstGeom prst="roundRect">
            <a:avLst>
              <a:gd name="adj" fmla="val 10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1874519" y="6560271"/>
            <a:ext cx="0" cy="47622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799685" y="6621499"/>
            <a:ext cx="149669" cy="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276856" y="6272783"/>
            <a:ext cx="261518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 THE BROWSER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00200" y="6858000"/>
            <a:ext cx="32918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token, sql, table, chart, diagram, final: streamed live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349240" y="6035040"/>
            <a:ext cx="3657599" cy="1335024"/>
          </a:xfrm>
          <a:prstGeom prst="roundRect">
            <a:avLst>
              <a:gd name="adj" fmla="val 9000"/>
            </a:avLst>
          </a:prstGeom>
          <a:solidFill>
            <a:srgbClr val="360407"/>
          </a:soli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532120" y="6217920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Document 96"/>
          <p:cNvSpPr/>
          <p:nvPr/>
        </p:nvSpPr>
        <p:spPr>
          <a:xfrm>
            <a:off x="5683983" y="6356177"/>
            <a:ext cx="244912" cy="272125"/>
          </a:xfrm>
          <a:prstGeom prst="flowChartDocument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5738408" y="6437814"/>
            <a:ext cx="136063" cy="0"/>
          </a:xfrm>
          <a:prstGeom prst="line">
            <a:avLst/>
          </a:prstGeom>
          <a:ln w="21336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738408" y="6485436"/>
            <a:ext cx="136063" cy="0"/>
          </a:xfrm>
          <a:prstGeom prst="line">
            <a:avLst/>
          </a:prstGeom>
          <a:ln w="21336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208775" y="6272783"/>
            <a:ext cx="261518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EXPLAIN + VERIFY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32120" y="6858000"/>
            <a:ext cx="32918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Statistics computed server-side, then a self-audit of what shipped</a:t>
            </a:r>
          </a:p>
        </p:txBody>
      </p:sp>
      <p:sp>
        <p:nvSpPr>
          <p:cNvPr id="102" name="Isosceles Triangle 101"/>
          <p:cNvSpPr/>
          <p:nvPr/>
        </p:nvSpPr>
        <p:spPr>
          <a:xfrm rot="16200000">
            <a:off x="5093207" y="6583680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9281160" y="6035040"/>
            <a:ext cx="3657599" cy="1335024"/>
          </a:xfrm>
          <a:prstGeom prst="roundRect">
            <a:avLst>
              <a:gd name="adj" fmla="val 9000"/>
            </a:avLst>
          </a:prstGeom>
          <a:solidFill>
            <a:srgbClr val="360407"/>
          </a:soli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464040" y="6217920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 flipV="1">
            <a:off x="9595494" y="6356177"/>
            <a:ext cx="0" cy="272125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95494" y="6628302"/>
            <a:ext cx="292534" cy="0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629509" y="6485436"/>
            <a:ext cx="81638" cy="74835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11147" y="6485436"/>
            <a:ext cx="61228" cy="40819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772375" y="6403799"/>
            <a:ext cx="95244" cy="122456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0140696" y="6272783"/>
            <a:ext cx="261518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VIZ ENGINE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464040" y="6858000"/>
            <a:ext cx="32918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Chart type by rules; Mermaid ER, flow and decision trees built in code</a:t>
            </a:r>
          </a:p>
        </p:txBody>
      </p:sp>
      <p:sp>
        <p:nvSpPr>
          <p:cNvPr id="112" name="Isosceles Triangle 111"/>
          <p:cNvSpPr/>
          <p:nvPr/>
        </p:nvSpPr>
        <p:spPr>
          <a:xfrm rot="16200000">
            <a:off x="9025128" y="6583680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3213080" y="6035040"/>
            <a:ext cx="3657599" cy="1335024"/>
          </a:xfrm>
          <a:prstGeom prst="roundRect">
            <a:avLst>
              <a:gd name="adj" fmla="val 9000"/>
            </a:avLst>
          </a:prstGeom>
          <a:solidFill>
            <a:srgbClr val="360407"/>
          </a:soli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3395959" y="6217920"/>
            <a:ext cx="548640" cy="548640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Cube 114"/>
          <p:cNvSpPr/>
          <p:nvPr/>
        </p:nvSpPr>
        <p:spPr>
          <a:xfrm>
            <a:off x="13534217" y="6362980"/>
            <a:ext cx="272125" cy="258519"/>
          </a:xfrm>
          <a:prstGeom prst="cub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4072615" y="6272783"/>
            <a:ext cx="261518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RESULT STORE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395959" y="6858000"/>
            <a:ext cx="329183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Rows parked server-side, handed on as a result_id</a:t>
            </a:r>
          </a:p>
        </p:txBody>
      </p:sp>
      <p:sp>
        <p:nvSpPr>
          <p:cNvPr id="118" name="Isosceles Triangle 117"/>
          <p:cNvSpPr/>
          <p:nvPr/>
        </p:nvSpPr>
        <p:spPr>
          <a:xfrm rot="16200000">
            <a:off x="12957047" y="6583680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15700248" y="4864608"/>
            <a:ext cx="0" cy="1042416"/>
          </a:xfrm>
          <a:prstGeom prst="line">
            <a:avLst/>
          </a:prstGeom>
          <a:ln w="25400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10800000">
            <a:off x="15581376" y="5797296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 flipV="1">
            <a:off x="2651760" y="4992624"/>
            <a:ext cx="0" cy="1042416"/>
          </a:xfrm>
          <a:prstGeom prst="line">
            <a:avLst/>
          </a:prstGeom>
          <a:ln w="25400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Isosceles Triangle 121"/>
          <p:cNvSpPr/>
          <p:nvPr/>
        </p:nvSpPr>
        <p:spPr>
          <a:xfrm>
            <a:off x="2532888" y="4882896"/>
            <a:ext cx="237744" cy="213969"/>
          </a:xfrm>
          <a:prstGeom prst="triangle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417320" y="7607808"/>
            <a:ext cx="15453359" cy="640080"/>
          </a:xfrm>
          <a:prstGeom prst="roundRect">
            <a:avLst>
              <a:gd name="adj" fmla="val 16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417320" y="7607808"/>
            <a:ext cx="54864" cy="64008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728216" y="7662672"/>
            <a:ext cx="14831567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React 19  ·  TanStack Start  ·  Tailwind 4  ·  ECharts  ·  Mermaid         |         FastAPI  ·  Pydantic v2  ·  sqlglot  ·  SQLAlchemy  ·  psycopg         |         Docker  ·  173 unit tests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57729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3668" y="1849069"/>
            <a:ext cx="4806158" cy="1546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6"/>
              </a:lnSpc>
            </a:pPr>
            <a:r>
              <a:rPr lang="en-US" sz="446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FEASIBILITY &amp; VIABILITY</a:t>
            </a:r>
          </a:p>
          <a:p>
            <a:pPr algn="ctr">
              <a:lnSpc>
                <a:spcPts val="6246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949440" y="2670048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BUILT, TESTED AND RUNNING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090672"/>
            <a:ext cx="9921240" cy="4114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383280"/>
            <a:ext cx="2856585" cy="39319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383280"/>
            <a:ext cx="2856585" cy="6400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60980" y="3694176"/>
            <a:ext cx="969264" cy="969264"/>
          </a:xfrm>
          <a:prstGeom prst="ellipse">
            <a:avLst/>
          </a:prstGeom>
          <a:solidFill>
            <a:srgbClr val="7A1218"/>
          </a:solidFill>
          <a:ln w="1270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ear 6 22"/>
          <p:cNvSpPr/>
          <p:nvPr/>
        </p:nvSpPr>
        <p:spPr>
          <a:xfrm>
            <a:off x="2608600" y="3981297"/>
            <a:ext cx="474024" cy="395020"/>
          </a:xfrm>
          <a:prstGeom prst="gear6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81912" y="4864608"/>
            <a:ext cx="252740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TECHNICAL
FEASIBILITY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52420" y="5687568"/>
            <a:ext cx="786384" cy="4572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18488" y="5888736"/>
            <a:ext cx="2454249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 working build, not a mock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173 unit tests, all green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Docker image + one-click .exe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66513" y="3383280"/>
            <a:ext cx="2856585" cy="39319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66513" y="3383280"/>
            <a:ext cx="2856585" cy="6400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10174" y="3694176"/>
            <a:ext cx="969264" cy="969264"/>
          </a:xfrm>
          <a:prstGeom prst="ellipse">
            <a:avLst/>
          </a:prstGeom>
          <a:solidFill>
            <a:srgbClr val="7A1218"/>
          </a:solidFill>
          <a:ln w="1270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97296" y="4228185"/>
            <a:ext cx="395020" cy="128381"/>
          </a:xfrm>
          <a:prstGeom prst="ellipse">
            <a:avLst/>
          </a:prstGeom>
          <a:noFill/>
          <a:ln w="25908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97296" y="4119554"/>
            <a:ext cx="395020" cy="128381"/>
          </a:xfrm>
          <a:prstGeom prst="ellipse">
            <a:avLst/>
          </a:prstGeom>
          <a:noFill/>
          <a:ln w="25908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797296" y="4010924"/>
            <a:ext cx="395020" cy="128381"/>
          </a:xfrm>
          <a:prstGeom prst="ellipse">
            <a:avLst/>
          </a:prstGeom>
          <a:noFill/>
          <a:ln w="25908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1105" y="4864608"/>
            <a:ext cx="252740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01614" y="5687568"/>
            <a:ext cx="786384" cy="4572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7681" y="5888736"/>
            <a:ext cx="2454249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₹0 to run: no API key needed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Offline engine ships in the box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Any provider key stays optional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15707" y="3383280"/>
            <a:ext cx="2856585" cy="39319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15707" y="3383280"/>
            <a:ext cx="2856585" cy="6400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59367" y="3694176"/>
            <a:ext cx="969264" cy="969264"/>
          </a:xfrm>
          <a:prstGeom prst="ellipse">
            <a:avLst/>
          </a:prstGeom>
          <a:solidFill>
            <a:srgbClr val="7A1218"/>
          </a:solidFill>
          <a:ln w="1270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8936614" y="3981297"/>
            <a:ext cx="0" cy="395021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36614" y="4376318"/>
            <a:ext cx="424647" cy="0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985991" y="4168932"/>
            <a:ext cx="118506" cy="108631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04497" y="4168932"/>
            <a:ext cx="88880" cy="5925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193377" y="4050426"/>
            <a:ext cx="138257" cy="177759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880299" y="4864608"/>
            <a:ext cx="252740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SCALABILITY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50807" y="5687568"/>
            <a:ext cx="786384" cy="4572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16875" y="5888736"/>
            <a:ext cx="2454249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500 rows cost the context of 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SQLite to PostgreSQL by URL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Stateless API, scales sideways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64900" y="3383280"/>
            <a:ext cx="2856585" cy="39319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64900" y="3383280"/>
            <a:ext cx="2856585" cy="6400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808561" y="3694176"/>
            <a:ext cx="969264" cy="969264"/>
          </a:xfrm>
          <a:prstGeom prst="ellipse">
            <a:avLst/>
          </a:prstGeom>
          <a:solidFill>
            <a:srgbClr val="7A1218"/>
          </a:solidFill>
          <a:ln w="1270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vron 49"/>
          <p:cNvSpPr/>
          <p:nvPr/>
        </p:nvSpPr>
        <p:spPr>
          <a:xfrm rot="16200000">
            <a:off x="12125309" y="4188683"/>
            <a:ext cx="335767" cy="148132"/>
          </a:xfrm>
          <a:prstGeom prst="chevron">
            <a:avLst>
              <a:gd name="adj" fmla="val 38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 rot="16200000">
            <a:off x="12125309" y="4070177"/>
            <a:ext cx="335767" cy="148132"/>
          </a:xfrm>
          <a:prstGeom prst="chevron">
            <a:avLst>
              <a:gd name="adj" fmla="val 38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 rot="16200000">
            <a:off x="12125309" y="3951671"/>
            <a:ext cx="335767" cy="148132"/>
          </a:xfrm>
          <a:prstGeom prst="chevron">
            <a:avLst>
              <a:gd name="adj" fmla="val 38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29492" y="4864608"/>
            <a:ext cx="252740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IMPLEMENTATION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900001" y="5687568"/>
            <a:ext cx="786384" cy="4572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66068" y="5888736"/>
            <a:ext cx="2454249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One command, or one click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No per-database configuration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Sessions survive a restart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014094" y="3383280"/>
            <a:ext cx="2856585" cy="393192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4014094" y="3383280"/>
            <a:ext cx="2856585" cy="6400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4957755" y="3694176"/>
            <a:ext cx="969264" cy="969264"/>
          </a:xfrm>
          <a:prstGeom prst="ellipse">
            <a:avLst/>
          </a:prstGeom>
          <a:solidFill>
            <a:srgbClr val="7A1218"/>
          </a:solidFill>
          <a:ln w="1270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rc 58"/>
          <p:cNvSpPr/>
          <p:nvPr/>
        </p:nvSpPr>
        <p:spPr>
          <a:xfrm>
            <a:off x="15244876" y="3981297"/>
            <a:ext cx="395020" cy="395020"/>
          </a:xfrm>
          <a:prstGeom prst="arc">
            <a:avLst>
              <a:gd name="adj1" fmla="val 15000000"/>
              <a:gd name="adj2" fmla="val 6000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Arc 59"/>
          <p:cNvSpPr/>
          <p:nvPr/>
        </p:nvSpPr>
        <p:spPr>
          <a:xfrm>
            <a:off x="15244876" y="3981297"/>
            <a:ext cx="395020" cy="395020"/>
          </a:xfrm>
          <a:prstGeom prst="arc">
            <a:avLst>
              <a:gd name="adj1" fmla="val 33000000"/>
              <a:gd name="adj2" fmla="val 24000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6600000">
            <a:off x="15570768" y="3931920"/>
            <a:ext cx="103692" cy="93817"/>
          </a:xfrm>
          <a:prstGeom prst="triangl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 rot="17400000">
            <a:off x="15210312" y="4331878"/>
            <a:ext cx="103692" cy="93817"/>
          </a:xfrm>
          <a:prstGeom prst="triangl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178686" y="4864608"/>
            <a:ext cx="252740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SUSTAINABILITY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5049195" y="5687568"/>
            <a:ext cx="786384" cy="4572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215262" y="5888736"/>
            <a:ext cx="2454249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 new tool: one file, one line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Provider-agnostic failover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Read-only by design, zero risk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417320" y="7607808"/>
            <a:ext cx="2423160" cy="713232"/>
          </a:xfrm>
          <a:prstGeom prst="roundRect">
            <a:avLst>
              <a:gd name="adj" fmla="val 16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45336" y="7680960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>
                <a:solidFill>
                  <a:srgbClr val="E52B2B"/>
                </a:solidFill>
                <a:latin typeface="Anton"/>
                <a:ea typeface="Anton"/>
                <a:cs typeface="Anton"/>
                <a:sym typeface="Anton"/>
              </a:rPr>
              <a:t>173   </a:t>
            </a: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UNIT TESTS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023360" y="7607808"/>
            <a:ext cx="2423160" cy="713232"/>
          </a:xfrm>
          <a:prstGeom prst="roundRect">
            <a:avLst>
              <a:gd name="adj" fmla="val 16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51376" y="7680960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>
                <a:solidFill>
                  <a:srgbClr val="E52B2B"/>
                </a:solidFill>
                <a:latin typeface="Anton"/>
                <a:ea typeface="Anton"/>
                <a:cs typeface="Anton"/>
                <a:sym typeface="Anton"/>
              </a:rPr>
              <a:t>0   </a:t>
            </a: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API KEYS NEEDED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629400" y="7607808"/>
            <a:ext cx="2423160" cy="713232"/>
          </a:xfrm>
          <a:prstGeom prst="roundRect">
            <a:avLst>
              <a:gd name="adj" fmla="val 16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57416" y="7680960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>
                <a:solidFill>
                  <a:srgbClr val="E52B2B"/>
                </a:solidFill>
                <a:latin typeface="Anton"/>
                <a:ea typeface="Anton"/>
                <a:cs typeface="Anton"/>
                <a:sym typeface="Anton"/>
              </a:rPr>
              <a:t>5   </a:t>
            </a: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SECURITY LAYERS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35440" y="7607808"/>
            <a:ext cx="2423160" cy="713232"/>
          </a:xfrm>
          <a:prstGeom prst="roundRect">
            <a:avLst>
              <a:gd name="adj" fmla="val 16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63456" y="7680960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>
                <a:solidFill>
                  <a:srgbClr val="E52B2B"/>
                </a:solidFill>
                <a:latin typeface="Anton"/>
                <a:ea typeface="Anton"/>
                <a:cs typeface="Anton"/>
                <a:sym typeface="Anton"/>
              </a:rPr>
              <a:t>6   </a:t>
            </a: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AGENT TOOLS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841480" y="7607808"/>
            <a:ext cx="2423160" cy="713232"/>
          </a:xfrm>
          <a:prstGeom prst="roundRect">
            <a:avLst>
              <a:gd name="adj" fmla="val 16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969496" y="7680960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>
                <a:solidFill>
                  <a:srgbClr val="E52B2B"/>
                </a:solidFill>
                <a:latin typeface="Anton"/>
                <a:ea typeface="Anton"/>
                <a:cs typeface="Anton"/>
                <a:sym typeface="Anton"/>
              </a:rPr>
              <a:t>2   </a:t>
            </a: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DATABASE ENGINES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4447520" y="7607808"/>
            <a:ext cx="2423160" cy="713232"/>
          </a:xfrm>
          <a:prstGeom prst="roundRect">
            <a:avLst>
              <a:gd name="adj" fmla="val 16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4575536" y="7680960"/>
            <a:ext cx="21671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>
                <a:solidFill>
                  <a:srgbClr val="E52B2B"/>
                </a:solidFill>
                <a:latin typeface="Anton"/>
                <a:ea typeface="Anton"/>
                <a:cs typeface="Anton"/>
                <a:sym typeface="Anton"/>
              </a:rPr>
              <a:t>7/7   </a:t>
            </a: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BONUS TASKS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43778" y="1791322"/>
            <a:ext cx="3622877" cy="139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9"/>
              </a:lnSpc>
            </a:pPr>
            <a:r>
              <a:rPr lang="en-US" sz="404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IMPACT &amp; BENEFITS</a:t>
            </a:r>
          </a:p>
          <a:p>
            <a:pPr algn="ctr">
              <a:lnSpc>
                <a:spcPts val="565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2" id="12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26235" y="-443140"/>
            <a:ext cx="5172541" cy="2153040"/>
            <a:chOff x="0" y="0"/>
            <a:chExt cx="6896722" cy="2870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id="18" name="TextBox 17"/>
          <p:cNvSpPr txBox="1"/>
          <p:nvPr/>
        </p:nvSpPr>
        <p:spPr>
          <a:xfrm>
            <a:off x="6949440" y="2670048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WHAT CHANGES, AND FOR WHOM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090672"/>
            <a:ext cx="9921240" cy="4114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383280"/>
            <a:ext cx="4617720" cy="1517904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0176" y="3383280"/>
            <a:ext cx="54864" cy="151790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55064" y="3639312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04045" y="3788293"/>
            <a:ext cx="323829" cy="323829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965960" y="3849975"/>
            <a:ext cx="0" cy="100233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65960" y="3950208"/>
            <a:ext cx="84812" cy="30840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04872" y="3621024"/>
            <a:ext cx="3392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HOURS TO SECONDS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The answer lands before the data request would have been filed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5040" y="4142232"/>
            <a:ext cx="1274307" cy="786384"/>
          </a:xfrm>
          <a:prstGeom prst="line">
            <a:avLst/>
          </a:prstGeom>
          <a:ln w="19050">
            <a:solidFill>
              <a:srgbClr val="8E23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417320" y="5102352"/>
            <a:ext cx="4617720" cy="1517904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0176" y="5102352"/>
            <a:ext cx="54864" cy="151790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55064" y="5358384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04045" y="5530496"/>
            <a:ext cx="115653" cy="115653"/>
          </a:xfrm>
          <a:prstGeom prst="ellipse">
            <a:avLst/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rapezoid 31"/>
          <p:cNvSpPr/>
          <p:nvPr/>
        </p:nvSpPr>
        <p:spPr>
          <a:xfrm>
            <a:off x="1780914" y="5684700"/>
            <a:ext cx="161914" cy="107943"/>
          </a:xfrm>
          <a:prstGeom prst="trapezoid">
            <a:avLst>
              <a:gd name="adj" fmla="val 30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89090" y="5530496"/>
            <a:ext cx="115653" cy="115653"/>
          </a:xfrm>
          <a:prstGeom prst="ellipse">
            <a:avLst/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rapezoid 33"/>
          <p:cNvSpPr/>
          <p:nvPr/>
        </p:nvSpPr>
        <p:spPr>
          <a:xfrm>
            <a:off x="1965960" y="5684700"/>
            <a:ext cx="161914" cy="107943"/>
          </a:xfrm>
          <a:prstGeom prst="trapezoid">
            <a:avLst>
              <a:gd name="adj" fmla="val 30000"/>
            </a:avLst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04872" y="5340096"/>
            <a:ext cx="3392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DATA FOR EVERYONE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No SQL skill needed, so ops, sales and founders serve themselves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35040" y="5861304"/>
            <a:ext cx="1274307" cy="0"/>
          </a:xfrm>
          <a:prstGeom prst="line">
            <a:avLst/>
          </a:prstGeom>
          <a:ln w="19050">
            <a:solidFill>
              <a:srgbClr val="8E23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417320" y="6821424"/>
            <a:ext cx="4617720" cy="1517904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80176" y="6821424"/>
            <a:ext cx="54864" cy="151790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655064" y="7077456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811755" y="7365221"/>
            <a:ext cx="285278" cy="177335"/>
          </a:xfrm>
          <a:prstGeom prst="roundRect">
            <a:avLst>
              <a:gd name="adj" fmla="val 18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rc 40"/>
          <p:cNvSpPr/>
          <p:nvPr/>
        </p:nvSpPr>
        <p:spPr>
          <a:xfrm>
            <a:off x="1865727" y="7234147"/>
            <a:ext cx="177335" cy="169624"/>
          </a:xfrm>
          <a:prstGeom prst="arc">
            <a:avLst>
              <a:gd name="adj1" fmla="val 10800000"/>
              <a:gd name="adj2" fmla="val 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04872" y="7059168"/>
            <a:ext cx="3392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SAFE BY CONSTRUCTION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Read-only connection and masked PII: nothing can be changed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6035040" y="6793992"/>
            <a:ext cx="1274307" cy="786383"/>
          </a:xfrm>
          <a:prstGeom prst="line">
            <a:avLst/>
          </a:prstGeom>
          <a:ln w="19050">
            <a:solidFill>
              <a:srgbClr val="8E23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2252959" y="3383280"/>
            <a:ext cx="4617720" cy="1517904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2252959" y="3383280"/>
            <a:ext cx="54864" cy="151790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490703" y="3639312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631975" y="3780583"/>
            <a:ext cx="339249" cy="339249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2716787" y="3865395"/>
            <a:ext cx="169624" cy="169624"/>
          </a:xfrm>
          <a:prstGeom prst="ellipse">
            <a:avLst/>
          </a:prstGeom>
          <a:noFill/>
          <a:ln w="25908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774614" y="3923222"/>
            <a:ext cx="53971" cy="53971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240511" y="3621024"/>
            <a:ext cx="3392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ANSWERS YOU CAN AUDIT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The SQL is always shown, and the statistics are computed, not guessed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10978652" y="4142232"/>
            <a:ext cx="1274307" cy="786384"/>
          </a:xfrm>
          <a:prstGeom prst="line">
            <a:avLst/>
          </a:prstGeom>
          <a:ln w="19050">
            <a:solidFill>
              <a:srgbClr val="8E23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2252959" y="5102352"/>
            <a:ext cx="4617720" cy="1517904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252959" y="5102352"/>
            <a:ext cx="54864" cy="151790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2490703" y="5358384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631975" y="5499655"/>
            <a:ext cx="339249" cy="339249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12701367" y="5569047"/>
            <a:ext cx="200465" cy="200465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3240511" y="5340096"/>
            <a:ext cx="3392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ZERO RUNNING COST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Works with no API key and no lock-in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978652" y="5861304"/>
            <a:ext cx="1274307" cy="0"/>
          </a:xfrm>
          <a:prstGeom prst="line">
            <a:avLst/>
          </a:prstGeom>
          <a:ln w="19050">
            <a:solidFill>
              <a:srgbClr val="8E23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2252959" y="6821424"/>
            <a:ext cx="4617720" cy="1517904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252959" y="6821424"/>
            <a:ext cx="54864" cy="151790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2490703" y="7077456"/>
            <a:ext cx="621792" cy="621792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12709077" y="7280408"/>
            <a:ext cx="169625" cy="107944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2709077" y="7388352"/>
            <a:ext cx="169625" cy="107943"/>
          </a:xfrm>
          <a:prstGeom prst="line">
            <a:avLst/>
          </a:prstGeom>
          <a:ln w="24384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2631975" y="7326670"/>
            <a:ext cx="123363" cy="123363"/>
          </a:xfrm>
          <a:prstGeom prst="ellipse">
            <a:avLst/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847861" y="7218727"/>
            <a:ext cx="115653" cy="115653"/>
          </a:xfrm>
          <a:prstGeom prst="ellipse">
            <a:avLst/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2847861" y="7434613"/>
            <a:ext cx="115653" cy="115653"/>
          </a:xfrm>
          <a:prstGeom prst="ellipse">
            <a:avLst/>
          </a:prstGeom>
          <a:noFill/>
          <a:ln w="27432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240511" y="7059168"/>
            <a:ext cx="3392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INSIGHT THAT TRAVELS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Pin to a dashboard, export PNG, PDF or CSV, share by link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0978652" y="6793992"/>
            <a:ext cx="1274307" cy="786383"/>
          </a:xfrm>
          <a:prstGeom prst="line">
            <a:avLst/>
          </a:prstGeom>
          <a:ln w="19050">
            <a:solidFill>
              <a:srgbClr val="8E23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6912864" y="3630168"/>
            <a:ext cx="4462272" cy="4462272"/>
          </a:xfrm>
          <a:prstGeom prst="ellipse">
            <a:avLst/>
          </a:prstGeom>
          <a:solidFill>
            <a:srgbClr val="360407"/>
          </a:solidFill>
          <a:ln w="15875">
            <a:solidFill>
              <a:srgbClr val="E5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59168" y="3776472"/>
            <a:ext cx="4169663" cy="4169663"/>
          </a:xfrm>
          <a:prstGeom prst="ellipse">
            <a:avLst/>
          </a:prstGeom>
          <a:solidFill>
            <a:srgbClr val="7A1218"/>
          </a:solidFill>
          <a:ln w="1270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51776" y="4398264"/>
            <a:ext cx="3584447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spc="350">
                <a:solidFill>
                  <a:srgbClr val="FFD1D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IMPACT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3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DATAPILOT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0">
                <a:solidFill>
                  <a:srgbClr val="E52B2B"/>
                </a:solidFill>
                <a:latin typeface="Anton"/>
                <a:ea typeface="Anton"/>
                <a:cs typeface="Anton"/>
                <a:sym typeface="Anton"/>
              </a:rPr>
              <a:t>ONE QUESTION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6767"/>
                </a:solidFill>
                <a:latin typeface="Canva Sans"/>
                <a:ea typeface="Canva Sans"/>
                <a:cs typeface="Canva Sans"/>
                <a:sym typeface="Canva Sans"/>
              </a:rPr>
              <a:t>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2000" b="0">
                <a:solidFill>
                  <a:srgbClr val="E52B2B"/>
                </a:solidFill>
                <a:latin typeface="Anton"/>
                <a:ea typeface="Anton"/>
                <a:cs typeface="Anton"/>
                <a:sym typeface="Anton"/>
              </a:rPr>
              <a:t>FIVE ARTIFACTS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D1D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SQL  ·  TABLE  ·  CHART
DIAGRAM  ·  EXPLANATION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26235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5239" y="1805153"/>
            <a:ext cx="5089965" cy="142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3"/>
              </a:lnSpc>
            </a:pPr>
            <a:r>
              <a:rPr lang="en-US" sz="412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PROGRESS AND PROTOTYPE</a:t>
            </a:r>
          </a:p>
          <a:p>
            <a:pPr algn="ctr">
              <a:lnSpc>
                <a:spcPts val="5773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949440" y="2670048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WORKING END TO END,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090672"/>
            <a:ext cx="9921240" cy="4114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328416"/>
            <a:ext cx="6309360" cy="5010911"/>
          </a:xfrm>
          <a:prstGeom prst="roundRect">
            <a:avLst>
              <a:gd name="adj" fmla="val 5000"/>
            </a:avLst>
          </a:prstGeom>
          <a:solidFill>
            <a:srgbClr val="360407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17320" y="3328416"/>
            <a:ext cx="54864" cy="5010911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3529584"/>
            <a:ext cx="5760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BUILD STATUS</a:t>
            </a:r>
          </a:p>
        </p:txBody>
      </p:sp>
      <p:sp>
        <p:nvSpPr>
          <p:cNvPr id="23" name="Oval 22"/>
          <p:cNvSpPr/>
          <p:nvPr/>
        </p:nvSpPr>
        <p:spPr>
          <a:xfrm>
            <a:off x="1711391" y="4033967"/>
            <a:ext cx="289681" cy="289681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1783811" y="4185391"/>
            <a:ext cx="52669" cy="5267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836480" y="4126138"/>
            <a:ext cx="98756" cy="11192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67128" y="3913632"/>
            <a:ext cx="43891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Agent loop and six validated 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5976" y="4032504"/>
            <a:ext cx="822960" cy="310896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032504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DONE</a:t>
            </a:r>
          </a:p>
        </p:txBody>
      </p:sp>
      <p:sp>
        <p:nvSpPr>
          <p:cNvPr id="29" name="Oval 28"/>
          <p:cNvSpPr/>
          <p:nvPr/>
        </p:nvSpPr>
        <p:spPr>
          <a:xfrm>
            <a:off x="1711391" y="4555175"/>
            <a:ext cx="289681" cy="289681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1783811" y="4706599"/>
            <a:ext cx="52669" cy="5267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836480" y="4647346"/>
            <a:ext cx="98756" cy="11192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67128" y="4434840"/>
            <a:ext cx="43891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Five-layer SQL guard, PII masking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5976" y="4553712"/>
            <a:ext cx="822960" cy="310896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4553712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DONE</a:t>
            </a:r>
          </a:p>
        </p:txBody>
      </p:sp>
      <p:sp>
        <p:nvSpPr>
          <p:cNvPr id="35" name="Oval 34"/>
          <p:cNvSpPr/>
          <p:nvPr/>
        </p:nvSpPr>
        <p:spPr>
          <a:xfrm>
            <a:off x="1711391" y="5076383"/>
            <a:ext cx="289681" cy="289681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783811" y="5227807"/>
            <a:ext cx="52669" cy="5267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836480" y="5168554"/>
            <a:ext cx="98756" cy="11192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167128" y="4956048"/>
            <a:ext cx="43891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Six chart types, ER / flow / decision diagrams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5976" y="5074920"/>
            <a:ext cx="822960" cy="310896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9128" y="5074920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DONE</a:t>
            </a:r>
          </a:p>
        </p:txBody>
      </p:sp>
      <p:sp>
        <p:nvSpPr>
          <p:cNvPr id="41" name="Oval 40"/>
          <p:cNvSpPr/>
          <p:nvPr/>
        </p:nvSpPr>
        <p:spPr>
          <a:xfrm>
            <a:off x="1711391" y="5597591"/>
            <a:ext cx="289681" cy="289681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783811" y="5749015"/>
            <a:ext cx="52669" cy="5267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836480" y="5689762"/>
            <a:ext cx="98756" cy="11192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167128" y="5477256"/>
            <a:ext cx="43891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SQLite, PostgreSQL, and file upload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65976" y="5596128"/>
            <a:ext cx="822960" cy="310896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39128" y="5596128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DONE</a:t>
            </a:r>
          </a:p>
        </p:txBody>
      </p:sp>
      <p:sp>
        <p:nvSpPr>
          <p:cNvPr id="47" name="Oval 46"/>
          <p:cNvSpPr/>
          <p:nvPr/>
        </p:nvSpPr>
        <p:spPr>
          <a:xfrm>
            <a:off x="1711391" y="6118799"/>
            <a:ext cx="289681" cy="289681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1783811" y="6270223"/>
            <a:ext cx="52669" cy="5267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1836480" y="6210970"/>
            <a:ext cx="98756" cy="11192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167128" y="5998464"/>
            <a:ext cx="43891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Voice, export, history, sharing, dashboard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65976" y="6117336"/>
            <a:ext cx="822960" cy="310896"/>
          </a:xfrm>
          <a:prstGeom prst="roundRect">
            <a:avLst>
              <a:gd name="adj" fmla="val 34000"/>
            </a:avLst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39128" y="6117336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7/7</a:t>
            </a:r>
          </a:p>
        </p:txBody>
      </p:sp>
      <p:sp>
        <p:nvSpPr>
          <p:cNvPr id="53" name="Oval 52"/>
          <p:cNvSpPr/>
          <p:nvPr/>
        </p:nvSpPr>
        <p:spPr>
          <a:xfrm>
            <a:off x="1711391" y="6640007"/>
            <a:ext cx="289681" cy="289681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783811" y="6791431"/>
            <a:ext cx="52669" cy="5267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836480" y="6732178"/>
            <a:ext cx="98756" cy="11192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167128" y="6519672"/>
            <a:ext cx="43891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Docker, one-click .exe, offline engine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665976" y="6638544"/>
            <a:ext cx="822960" cy="310896"/>
          </a:xfrm>
          <a:prstGeom prst="roundRect">
            <a:avLst>
              <a:gd name="adj" fmla="val 3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39128" y="6638544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DONE</a:t>
            </a:r>
          </a:p>
        </p:txBody>
      </p:sp>
      <p:sp>
        <p:nvSpPr>
          <p:cNvPr id="59" name="Oval 58"/>
          <p:cNvSpPr/>
          <p:nvPr/>
        </p:nvSpPr>
        <p:spPr>
          <a:xfrm>
            <a:off x="1711391" y="7161215"/>
            <a:ext cx="289681" cy="289681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783811" y="7312639"/>
            <a:ext cx="52669" cy="52670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836480" y="7253386"/>
            <a:ext cx="98756" cy="111923"/>
          </a:xfrm>
          <a:prstGeom prst="line">
            <a:avLst/>
          </a:prstGeom>
          <a:ln w="30480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167128" y="7040880"/>
            <a:ext cx="438912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Unit tests across guard, tools and agent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65976" y="7159752"/>
            <a:ext cx="822960" cy="310896"/>
          </a:xfrm>
          <a:prstGeom prst="roundRect">
            <a:avLst>
              <a:gd name="adj" fmla="val 34000"/>
            </a:avLst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39128" y="7159752"/>
            <a:ext cx="67665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173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691640" y="7671816"/>
            <a:ext cx="5760720" cy="0"/>
          </a:xfrm>
          <a:prstGeom prst="line">
            <a:avLst/>
          </a:prstGeom>
          <a:ln w="12700">
            <a:solidFill>
              <a:srgbClr val="8E23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691640" y="7818120"/>
            <a:ext cx="5760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99A9A"/>
                </a:solidFill>
                <a:latin typeface="Canva Sans"/>
                <a:ea typeface="Canva Sans"/>
                <a:cs typeface="Canva Sans"/>
                <a:sym typeface="Canva Sans"/>
              </a:rPr>
              <a:t>Everything on this slide runs on a laptop with no network and no API key. The demo database is seeded on first launch.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0" y="3328416"/>
            <a:ext cx="8641079" cy="5010911"/>
          </a:xfrm>
          <a:prstGeom prst="roundRect">
            <a:avLst>
              <a:gd name="adj" fmla="val 5000"/>
            </a:avLst>
          </a:prstGeom>
          <a:solidFill>
            <a:srgbClr val="360407"/>
          </a:soli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8229600" y="3328416"/>
            <a:ext cx="237744" cy="0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8229600" y="3328416"/>
            <a:ext cx="0" cy="237744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6632935" y="3328416"/>
            <a:ext cx="237745" cy="0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6870680" y="3328416"/>
            <a:ext cx="0" cy="237744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229600" y="8339327"/>
            <a:ext cx="237744" cy="0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229600" y="8101583"/>
            <a:ext cx="0" cy="237744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16632935" y="8339327"/>
            <a:ext cx="237745" cy="0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6870680" y="8101583"/>
            <a:ext cx="0" cy="237744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375904" y="3474720"/>
            <a:ext cx="8348471" cy="402336"/>
          </a:xfrm>
          <a:prstGeom prst="roundRect">
            <a:avLst>
              <a:gd name="adj" fmla="val 14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22208" y="3611880"/>
            <a:ext cx="128016" cy="128016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723376" y="3611880"/>
            <a:ext cx="128016" cy="128016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924544" y="3611880"/>
            <a:ext cx="128016" cy="128016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235440" y="3547872"/>
            <a:ext cx="2377440" cy="256032"/>
          </a:xfrm>
          <a:prstGeom prst="roundRect">
            <a:avLst>
              <a:gd name="adj" fmla="val 34000"/>
            </a:avLst>
          </a:prstGeom>
          <a:solidFill>
            <a:srgbClr val="3604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08592" y="3547872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localhost:8080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493240" y="354787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9A9A"/>
                </a:solidFill>
                <a:latin typeface="Canva Sans"/>
                <a:ea typeface="Canva Sans"/>
                <a:cs typeface="Canva Sans"/>
                <a:sym typeface="Canva Sans"/>
              </a:rPr>
              <a:t>DataPilot  ·  demo: ecommerce.db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2079224" y="4078224"/>
            <a:ext cx="4480560" cy="402336"/>
          </a:xfrm>
          <a:prstGeom prst="roundRect">
            <a:avLst>
              <a:gd name="adj" fmla="val 24000"/>
            </a:avLst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262103" y="4078224"/>
            <a:ext cx="4114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Which product category earns the most revenue?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40496" y="4645152"/>
            <a:ext cx="80192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inspecting schema   ›   generating plan   ›   executing tools   ›   done in 1.4 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540496" y="5010912"/>
            <a:ext cx="8019287" cy="1060704"/>
          </a:xfrm>
          <a:prstGeom prst="roundRect">
            <a:avLst>
              <a:gd name="adj" fmla="val 5000"/>
            </a:avLst>
          </a:prstGeom>
          <a:solidFill>
            <a:srgbClr val="240204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40496" y="5010912"/>
            <a:ext cx="45720" cy="106070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759952" y="5138928"/>
            <a:ext cx="7580375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SELECT p.category, SUM(oi.quantity * oi.unit_price) AS revenue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D1D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FROM order_items oi JOIN products p ON p.product_id = oi.product_id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D1D1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GROUP BY p.category ORDER BY revenue DESC LIMIT 100;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40496" y="6327648"/>
            <a:ext cx="80192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99A9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REVENUE BY CATEGORY   ·   bar chart chosen by the recommender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40496" y="66019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Electronics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03536" y="6656832"/>
            <a:ext cx="5093207" cy="182880"/>
          </a:xfrm>
          <a:prstGeom prst="rect">
            <a:avLst/>
          </a:prstGeom>
          <a:solidFill>
            <a:srgbClr val="4A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03536" y="6656832"/>
            <a:ext cx="5093207" cy="18288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243047" y="6601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63,589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40496" y="70043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Accessories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03536" y="7059168"/>
            <a:ext cx="5093207" cy="182880"/>
          </a:xfrm>
          <a:prstGeom prst="rect">
            <a:avLst/>
          </a:prstGeom>
          <a:solidFill>
            <a:srgbClr val="4A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03536" y="7059168"/>
            <a:ext cx="488947" cy="18288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243047" y="70043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6,088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40496" y="74066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03536" y="7461504"/>
            <a:ext cx="5093207" cy="182880"/>
          </a:xfrm>
          <a:prstGeom prst="rect">
            <a:avLst/>
          </a:prstGeom>
          <a:solidFill>
            <a:srgbClr val="4A0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03536" y="7461504"/>
            <a:ext cx="193541" cy="182880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5243047" y="74066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2,397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540496" y="7918704"/>
            <a:ext cx="8019287" cy="475488"/>
          </a:xfrm>
          <a:prstGeom prst="roundRect">
            <a:avLst>
              <a:gd name="adj" fmla="val 10000"/>
            </a:avLst>
          </a:prstGeom>
          <a:solidFill>
            <a:srgbClr val="7A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741664" y="7918704"/>
            <a:ext cx="761695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Electronics accounts for 88% of revenue: 63,589 of a 72,074 total, across three categories.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37390" t="0" r="-4038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2042" y="-3287370"/>
            <a:ext cx="19212084" cy="4610900"/>
          </a:xfrm>
          <a:custGeom>
            <a:avLst/>
            <a:gdLst/>
            <a:ahLst/>
            <a:cxnLst/>
            <a:rect r="r" b="b" t="t" l="l"/>
            <a:pathLst>
              <a:path h="4610900" w="19212084">
                <a:moveTo>
                  <a:pt x="0" y="0"/>
                </a:moveTo>
                <a:lnTo>
                  <a:pt x="19212084" y="0"/>
                </a:lnTo>
                <a:lnTo>
                  <a:pt x="19212084" y="4610900"/>
                </a:lnTo>
                <a:lnTo>
                  <a:pt x="0" y="461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709900"/>
            <a:ext cx="16230600" cy="7020218"/>
            <a:chOff x="0" y="0"/>
            <a:chExt cx="4274726" cy="1848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1848946"/>
            </a:xfrm>
            <a:custGeom>
              <a:avLst/>
              <a:gdLst/>
              <a:ahLst/>
              <a:cxnLst/>
              <a:rect r="r" b="b" t="t" l="l"/>
              <a:pathLst>
                <a:path h="1848946" w="4274726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1840837"/>
                  </a:lnTo>
                  <a:cubicBezTo>
                    <a:pt x="4274726" y="1842988"/>
                    <a:pt x="4273872" y="1845051"/>
                    <a:pt x="4272351" y="1846571"/>
                  </a:cubicBezTo>
                  <a:cubicBezTo>
                    <a:pt x="4270830" y="1848092"/>
                    <a:pt x="4268768" y="1848946"/>
                    <a:pt x="4266617" y="1848946"/>
                  </a:cubicBezTo>
                  <a:lnTo>
                    <a:pt x="8109" y="1848946"/>
                  </a:lnTo>
                  <a:cubicBezTo>
                    <a:pt x="5958" y="1848946"/>
                    <a:pt x="3896" y="1848092"/>
                    <a:pt x="2375" y="1846571"/>
                  </a:cubicBezTo>
                  <a:cubicBezTo>
                    <a:pt x="854" y="1845051"/>
                    <a:pt x="0" y="1842988"/>
                    <a:pt x="0" y="1840837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46060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274726" cy="188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93536" y="7408342"/>
            <a:ext cx="19212084" cy="6460858"/>
            <a:chOff x="0" y="0"/>
            <a:chExt cx="25616111" cy="86144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466611"/>
              <a:ext cx="25616111" cy="6147867"/>
            </a:xfrm>
            <a:custGeom>
              <a:avLst/>
              <a:gdLst/>
              <a:ahLst/>
              <a:cxnLst/>
              <a:rect r="r" b="b" t="t" l="l"/>
              <a:pathLst>
                <a:path h="6147867" w="25616111">
                  <a:moveTo>
                    <a:pt x="0" y="0"/>
                  </a:moveTo>
                  <a:lnTo>
                    <a:pt x="25616111" y="0"/>
                  </a:lnTo>
                  <a:lnTo>
                    <a:pt x="25616111" y="6147866"/>
                  </a:lnTo>
                  <a:lnTo>
                    <a:pt x="0" y="61478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2043464" y="706293"/>
              <a:ext cx="3131918" cy="3131918"/>
              <a:chOff x="0" y="0"/>
              <a:chExt cx="6350000" cy="6350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6350000"/>
                    </a:moveTo>
                    <a:lnTo>
                      <a:pt x="6350000" y="6350000"/>
                    </a:lnTo>
                    <a:lnTo>
                      <a:pt x="6350000" y="0"/>
                    </a:lnTo>
                    <a:cubicBezTo>
                      <a:pt x="2843530" y="0"/>
                      <a:pt x="0" y="2843530"/>
                      <a:pt x="0" y="635000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0" t="0" r="-6346" b="-6346"/>
                </a:stretch>
              </a:blipFill>
            </p:spPr>
          </p:sp>
        </p:grpSp>
        <p:sp>
          <p:nvSpPr>
            <p:cNvPr name="Freeform 11" id="11"/>
            <p:cNvSpPr/>
            <p:nvPr/>
          </p:nvSpPr>
          <p:spPr>
            <a:xfrm>
              <a:off x="22043464" y="706293"/>
              <a:ext cx="3131918" cy="3131918"/>
            </a:xfrm>
            <a:custGeom>
              <a:avLst/>
              <a:gdLst/>
              <a:ahLst/>
              <a:cxnLst/>
              <a:rect r="r" b="b" t="t" l="l"/>
              <a:pathLst>
                <a:path h="3131918" w="3131918">
                  <a:moveTo>
                    <a:pt x="0" y="3131918"/>
                  </a:moveTo>
                  <a:quadBezTo>
                    <a:pt x="139840" y="397910"/>
                    <a:pt x="3131918" y="0"/>
                  </a:quadBezTo>
                </a:path>
              </a:pathLst>
            </a:custGeom>
            <a:ln cap="flat" w="101600">
              <a:solidFill>
                <a:srgbClr val="4606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7008589" y="3052925"/>
              <a:ext cx="11598934" cy="45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66"/>
                </a:lnSpc>
              </a:pP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INNOVATE.</a:t>
              </a:r>
              <a:r>
                <a:rPr lang="en-US" b="true" sz="2047" spc="599">
                  <a:gradFill>
                    <a:gsLst>
                      <a:gs pos="0">
                        <a:srgbClr val="731919">
                          <a:alpha val="100000"/>
                        </a:srgbClr>
                      </a:gs>
                      <a:gs pos="100000">
                        <a:srgbClr val="E52B2B">
                          <a:alpha val="100000"/>
                        </a:srgbClr>
                      </a:gs>
                    </a:gsLst>
                    <a:lin ang="5400000"/>
                  </a:gradFill>
                  <a:latin typeface="Space Mono Bold"/>
                  <a:ea typeface="Space Mono Bold"/>
                  <a:cs typeface="Space Mono Bold"/>
                  <a:sym typeface="Space Mono Bold"/>
                </a:rPr>
                <a:t>BULID.</a:t>
              </a:r>
              <a:r>
                <a:rPr lang="en-US" b="true" sz="2047" spc="599">
                  <a:solidFill>
                    <a:srgbClr val="FFFFFF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DEMONSTRATE.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26235" y="-443140"/>
            <a:ext cx="5172541" cy="2153040"/>
            <a:chOff x="0" y="0"/>
            <a:chExt cx="6896722" cy="2870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825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3282572">
                  <a:moveTo>
                    <a:pt x="0" y="0"/>
                  </a:moveTo>
                  <a:lnTo>
                    <a:pt x="3282572" y="0"/>
                  </a:lnTo>
                  <a:lnTo>
                    <a:pt x="3282572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8414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741597" y="0"/>
              <a:ext cx="2155125" cy="2870720"/>
            </a:xfrm>
            <a:custGeom>
              <a:avLst/>
              <a:gdLst/>
              <a:ahLst/>
              <a:cxnLst/>
              <a:rect r="r" b="b" t="t" l="l"/>
              <a:pathLst>
                <a:path h="2870720" w="2155125">
                  <a:moveTo>
                    <a:pt x="0" y="0"/>
                  </a:moveTo>
                  <a:lnTo>
                    <a:pt x="2155125" y="0"/>
                  </a:lnTo>
                  <a:lnTo>
                    <a:pt x="2155125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96978" t="0" r="-3581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22975" y="0"/>
              <a:ext cx="1720272" cy="2870720"/>
            </a:xfrm>
            <a:custGeom>
              <a:avLst/>
              <a:gdLst/>
              <a:ahLst/>
              <a:cxnLst/>
              <a:rect r="r" b="b" t="t" l="l"/>
              <a:pathLst>
                <a:path h="2870720" w="1720272">
                  <a:moveTo>
                    <a:pt x="0" y="0"/>
                  </a:moveTo>
                  <a:lnTo>
                    <a:pt x="1720271" y="0"/>
                  </a:lnTo>
                  <a:lnTo>
                    <a:pt x="1720271" y="2870720"/>
                  </a:lnTo>
                  <a:lnTo>
                    <a:pt x="0" y="287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8507" t="0" r="-1936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4210" y="1774860"/>
            <a:ext cx="3840480" cy="127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3"/>
              </a:lnSpc>
            </a:pPr>
            <a:r>
              <a:rPr lang="en-US" sz="36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  <a:p>
            <a:pPr algn="ctr">
              <a:lnSpc>
                <a:spcPts val="5153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949440" y="2670048"/>
            <a:ext cx="9921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TEAM PHOENIX  //  TRACK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3090672"/>
            <a:ext cx="9921240" cy="4114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17320" y="3383280"/>
            <a:ext cx="15453359" cy="1060704"/>
          </a:xfrm>
          <a:prstGeom prst="roundRect">
            <a:avLst>
              <a:gd name="adj" fmla="val 6000"/>
            </a:avLst>
          </a:prstGeom>
          <a:solidFill>
            <a:srgbClr val="360407"/>
          </a:soli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417320" y="3383280"/>
            <a:ext cx="237744" cy="0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417320" y="3383280"/>
            <a:ext cx="0" cy="237744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6632935" y="3383280"/>
            <a:ext cx="237745" cy="0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870680" y="3383280"/>
            <a:ext cx="0" cy="237744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17320" y="4443984"/>
            <a:ext cx="237744" cy="0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417320" y="4206240"/>
            <a:ext cx="0" cy="237744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6632935" y="4443984"/>
            <a:ext cx="237745" cy="0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6870680" y="4206240"/>
            <a:ext cx="0" cy="237744"/>
          </a:xfrm>
          <a:prstGeom prst="line">
            <a:avLst/>
          </a:prstGeom>
          <a:ln w="22225">
            <a:solidFill>
              <a:srgbClr val="E52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65960" y="3383280"/>
            <a:ext cx="14356080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DATABASE ANYONE CAN ASK, AND NOBODY CAN BREAK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4754880"/>
            <a:ext cx="4931664" cy="2084831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17320" y="4754880"/>
            <a:ext cx="4931664" cy="5486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691640" y="5065776"/>
            <a:ext cx="749808" cy="749808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80591" y="5412787"/>
            <a:ext cx="344011" cy="213845"/>
          </a:xfrm>
          <a:prstGeom prst="roundRect">
            <a:avLst>
              <a:gd name="adj" fmla="val 18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c 33"/>
          <p:cNvSpPr/>
          <p:nvPr/>
        </p:nvSpPr>
        <p:spPr>
          <a:xfrm>
            <a:off x="1945674" y="5254727"/>
            <a:ext cx="213845" cy="204547"/>
          </a:xfrm>
          <a:prstGeom prst="arc">
            <a:avLst>
              <a:gd name="adj1" fmla="val 10800000"/>
              <a:gd name="adj2" fmla="val 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9464" y="5084064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SAFE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6767"/>
                </a:solidFill>
                <a:latin typeface="Canva Sans"/>
                <a:ea typeface="Canva Sans"/>
                <a:cs typeface="Canva Sans"/>
                <a:sym typeface="Canva Sans"/>
              </a:rPr>
              <a:t>Read-only by construction, not by prompt.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91640" y="6035040"/>
            <a:ext cx="438302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Five guard layers and a connection that physically cannot write.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8168" y="4754880"/>
            <a:ext cx="4931664" cy="2084831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8168" y="4754880"/>
            <a:ext cx="4931664" cy="5486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52488" y="5065776"/>
            <a:ext cx="749808" cy="749808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22844" y="5236132"/>
            <a:ext cx="409095" cy="409095"/>
          </a:xfrm>
          <a:prstGeom prst="ellipse">
            <a:avLst/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25118" y="5338406"/>
            <a:ext cx="204547" cy="204547"/>
          </a:xfrm>
          <a:prstGeom prst="ellipse">
            <a:avLst/>
          </a:prstGeom>
          <a:noFill/>
          <a:ln w="25908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94850" y="5408138"/>
            <a:ext cx="65083" cy="65083"/>
          </a:xfrm>
          <a:prstGeom prst="ellipse">
            <a:avLst/>
          </a:prstGeom>
          <a:solidFill>
            <a:srgbClr val="FF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30312" y="5084064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HONEST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6767"/>
                </a:solidFill>
                <a:latin typeface="Canva Sans"/>
                <a:ea typeface="Canva Sans"/>
                <a:cs typeface="Canva Sans"/>
                <a:sym typeface="Canva Sans"/>
              </a:rPr>
              <a:t>Every figure is measured, never paraphrased.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2488" y="6035040"/>
            <a:ext cx="438302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The SQL is shown, statistics are computed server-side, and the agent audits itself.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939016" y="4754880"/>
            <a:ext cx="4931664" cy="2084831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5E0D12"/>
              </a:gs>
              <a:gs pos="100000">
                <a:srgbClr val="3C0508"/>
              </a:gs>
            </a:gsLst>
            <a:lin scaled="0" ang="16200000"/>
          </a:gradFill>
          <a:ln w="15875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939016" y="4754880"/>
            <a:ext cx="4931664" cy="54864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2213336" y="5065776"/>
            <a:ext cx="749808" cy="749808"/>
          </a:xfrm>
          <a:prstGeom prst="roundRect">
            <a:avLst>
              <a:gd name="adj" fmla="val 24000"/>
            </a:avLst>
          </a:prstGeom>
          <a:solidFill>
            <a:srgbClr val="7A1218"/>
          </a:solidFill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2458073" y="5347703"/>
            <a:ext cx="260333" cy="185952"/>
          </a:xfrm>
          <a:prstGeom prst="roundRect">
            <a:avLst>
              <a:gd name="adj" fmla="val 22000"/>
            </a:avLst>
          </a:prstGeom>
          <a:noFill/>
          <a:ln w="30480">
            <a:solidFill>
              <a:srgbClr val="FF6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12523156" y="5245429"/>
            <a:ext cx="0" cy="102274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2653323" y="5245429"/>
            <a:ext cx="0" cy="102274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2588240" y="5533656"/>
            <a:ext cx="0" cy="102274"/>
          </a:xfrm>
          <a:prstGeom prst="line">
            <a:avLst/>
          </a:prstGeom>
          <a:ln w="27432">
            <a:solidFill>
              <a:srgbClr val="FF6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3091160" y="5084064"/>
            <a:ext cx="3505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ALWAYS 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6767"/>
                </a:solidFill>
                <a:latin typeface="Canva Sans"/>
                <a:ea typeface="Canva Sans"/>
                <a:cs typeface="Canva Sans"/>
                <a:sym typeface="Canva Sans"/>
              </a:rPr>
              <a:t>No key, no network, still answers.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13336" y="6035040"/>
            <a:ext cx="438302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Four providers with failover, and an offline engine underneath them all.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17320" y="7168896"/>
            <a:ext cx="2194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spc="180">
                <a:solidFill>
                  <a:srgbClr val="FF6767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NEXT UP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971800" y="7187184"/>
            <a:ext cx="3323844" cy="438912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44952" y="7187184"/>
            <a:ext cx="31775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Writes behind an approval step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96812" y="7187184"/>
            <a:ext cx="3323844" cy="438912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69964" y="7187184"/>
            <a:ext cx="31775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Scheduled digests to email and Slack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021824" y="7187184"/>
            <a:ext cx="3323844" cy="438912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94976" y="7187184"/>
            <a:ext cx="31775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MySQL and BigQuery connectors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3546836" y="7187184"/>
            <a:ext cx="3323844" cy="438912"/>
          </a:xfrm>
          <a:prstGeom prst="roundRect">
            <a:avLst>
              <a:gd name="adj" fmla="val 34000"/>
            </a:avLst>
          </a:prstGeom>
          <a:noFill/>
          <a:ln w="12700">
            <a:solidFill>
              <a:srgbClr val="8E2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619988" y="7187184"/>
            <a:ext cx="317753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Row-level access per user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17320" y="7973568"/>
            <a:ext cx="15453359" cy="41148"/>
          </a:xfrm>
          <a:prstGeom prst="rect">
            <a:avLst/>
          </a:prstGeom>
          <a:solidFill>
            <a:srgbClr val="E5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17320" y="8119872"/>
            <a:ext cx="1545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TEAM PHOENIX   </a:t>
            </a:r>
            <a:r>
              <a:rPr sz="1600" b="0">
                <a:solidFill>
                  <a:srgbClr val="FFD1D1"/>
                </a:solidFill>
                <a:latin typeface="Canva Sans"/>
                <a:ea typeface="Canva Sans"/>
                <a:cs typeface="Canva Sans"/>
                <a:sym typeface="Canva Sans"/>
              </a:rPr>
              <a:t>Abishekh Pradhosh   ·   Suhasha   ·   Yeswanth   ·   Vignesh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8119872"/>
            <a:ext cx="1545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20">
                <a:solidFill>
                  <a:srgbClr val="C99A9A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DataPilot AI   ·   Intellect Hack 2026   ·   Track 5, Open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DAHSDAi3oQ0</dc:identifier>
  <dcterms:modified xsi:type="dcterms:W3CDTF">2011-08-01T06:04:30Z</dcterms:modified>
  <cp:revision>1</cp:revision>
  <dc:title>Intellect Hack 2026 - PPT</dc:title>
</cp:coreProperties>
</file>